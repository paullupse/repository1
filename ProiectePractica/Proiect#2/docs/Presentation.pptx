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23"/>
  </p:notesMasterIdLst>
  <p:handoutMasterIdLst>
    <p:handoutMasterId r:id="rId24"/>
  </p:handoutMasterIdLst>
  <p:sldIdLst>
    <p:sldId id="256" r:id="rId5"/>
    <p:sldId id="261" r:id="rId6"/>
    <p:sldId id="259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460"/>
    <a:srgbClr val="97A7B8"/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 varScale="1">
        <p:scale>
          <a:sx n="105" d="100"/>
          <a:sy n="105" d="100"/>
        </p:scale>
        <p:origin x="132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1" d="2"/>
          <a:sy n="1" d="2"/>
        </p:scale>
        <p:origin x="2640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1AC4-3AE8-4F87-AAED-904EC6054702}" type="datetimeFigureOut">
              <a:rPr lang="en-US" smtClean="0"/>
              <a:t>09-Nov-25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A362-CAFC-4987-9A50-4757052839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56653-6123-4FE4-861F-5F9583BF59B0}" type="datetimeFigureOut">
              <a:rPr lang="en-US" smtClean="0"/>
              <a:t>09-Nov-25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EB602-95FC-483A-B12D-216A7AD7EA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6206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494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34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7585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521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09-Nov-25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94837D5C-EE88-BE2B-5940-6A8E20CAE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6331A-AE6C-3009-DDD4-1671FF7E0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D7D28B-DE67-0B99-CDEB-A037FFC56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B9F3E3-6134-5423-F75E-B36E71A65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F677F-A1EC-4CDA-E80E-4B3695465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1E2C06-C49E-A5AA-07A3-D134EFA3D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A39D8-E4F7-CD36-B80A-49D228C0F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6F4721-4B2C-0638-8409-054F6738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894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2255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408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6319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365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2157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anchor="ctr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4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82" r:id="rId12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C63F1-AD8C-C099-57CF-F462C357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164" y="2437200"/>
            <a:ext cx="9832064" cy="1735878"/>
          </a:xfrm>
          <a:solidFill>
            <a:srgbClr val="595460"/>
          </a:solidFill>
        </p:spPr>
        <p:txBody>
          <a:bodyPr>
            <a:noAutofit/>
          </a:bodyPr>
          <a:lstStyle/>
          <a:p>
            <a:pPr algn="ctr"/>
            <a:r>
              <a:rPr lang="en-US" sz="4400" dirty="0" err="1">
                <a:solidFill>
                  <a:srgbClr val="EBEDEB"/>
                </a:solidFill>
                <a:latin typeface="Corbel" panose="020B0503020204020204" pitchFamily="34" charset="0"/>
              </a:rPr>
              <a:t>Automatizarea</a:t>
            </a:r>
            <a:r>
              <a:rPr lang="en-US" sz="4400" dirty="0">
                <a:solidFill>
                  <a:srgbClr val="EBEDEB"/>
                </a:solidFill>
                <a:latin typeface="Corbel" panose="020B0503020204020204" pitchFamily="34" charset="0"/>
              </a:rPr>
              <a:t> </a:t>
            </a:r>
            <a:r>
              <a:rPr lang="en-US" sz="4400" dirty="0" err="1">
                <a:solidFill>
                  <a:srgbClr val="EBEDEB"/>
                </a:solidFill>
                <a:latin typeface="Corbel" panose="020B0503020204020204" pitchFamily="34" charset="0"/>
              </a:rPr>
              <a:t>jocului</a:t>
            </a:r>
            <a:r>
              <a:rPr lang="en-US" sz="4400" dirty="0">
                <a:solidFill>
                  <a:srgbClr val="EBEDEB"/>
                </a:solidFill>
                <a:latin typeface="Corbel" panose="020B0503020204020204" pitchFamily="34" charset="0"/>
              </a:rPr>
              <a:t> Candy Crush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4DD2DF-CDEF-9A1A-9BEE-BE06F6A27760}"/>
              </a:ext>
            </a:extLst>
          </p:cNvPr>
          <p:cNvSpPr txBox="1"/>
          <p:nvPr/>
        </p:nvSpPr>
        <p:spPr>
          <a:xfrm>
            <a:off x="5327963" y="3865301"/>
            <a:ext cx="1536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EBEDEB"/>
                </a:solidFill>
                <a:latin typeface="Corbel" panose="020B0503020204020204" pitchFamily="34" charset="0"/>
              </a:rPr>
              <a:t>Lup</a:t>
            </a:r>
            <a:r>
              <a:rPr lang="ro-RO" sz="1400" dirty="0">
                <a:solidFill>
                  <a:srgbClr val="EBEDEB"/>
                </a:solidFill>
                <a:latin typeface="Corbel" panose="020B0503020204020204" pitchFamily="34" charset="0"/>
              </a:rPr>
              <a:t>șe Paul-Ștefan</a:t>
            </a:r>
            <a:endParaRPr lang="en-US" sz="1400" dirty="0">
              <a:solidFill>
                <a:srgbClr val="EBEDEB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277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516CF3-CC92-CD59-122E-B65CB7F65C48}"/>
              </a:ext>
            </a:extLst>
          </p:cNvPr>
          <p:cNvSpPr txBox="1"/>
          <p:nvPr/>
        </p:nvSpPr>
        <p:spPr>
          <a:xfrm>
            <a:off x="1539090" y="3136612"/>
            <a:ext cx="1548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dirty="0">
                <a:solidFill>
                  <a:srgbClr val="595460"/>
                </a:solidFill>
                <a:latin typeface="Corbel" panose="020B0503020204020204" pitchFamily="34" charset="0"/>
              </a:rPr>
              <a:t>Cuprins</a:t>
            </a:r>
            <a:endParaRPr lang="en-US" sz="32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16DFA2-2A0B-0FF4-0ED4-6D87BCF442E6}"/>
              </a:ext>
            </a:extLst>
          </p:cNvPr>
          <p:cNvSpPr txBox="1"/>
          <p:nvPr/>
        </p:nvSpPr>
        <p:spPr>
          <a:xfrm>
            <a:off x="4934138" y="2459503"/>
            <a:ext cx="38205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1. Introducere</a:t>
            </a:r>
          </a:p>
          <a:p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2. Tehnologii utilizate</a:t>
            </a:r>
          </a:p>
          <a:p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3. Analiza problemei</a:t>
            </a:r>
          </a:p>
          <a:p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4. Algoritm de rezolvare</a:t>
            </a:r>
          </a:p>
          <a:p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5. Limitări și direcții viitoare</a:t>
            </a:r>
            <a:endParaRPr lang="en-US" sz="24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821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F616D-F539-CD71-FA01-0A4D2093D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153" y="1361016"/>
            <a:ext cx="10593694" cy="2597841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rgbClr val="595460"/>
                </a:solidFill>
                <a:latin typeface="Corbel" panose="020B0503020204020204" pitchFamily="34" charset="0"/>
              </a:rPr>
              <a:t>Introducere</a:t>
            </a:r>
            <a:endParaRPr lang="en-US" dirty="0">
              <a:latin typeface="Corbel" panose="020B05030202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F803D-E3A5-B85F-FCA5-AA1669BD8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162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9C3DCC-038F-0FA3-020B-9B1EA15C9A38}"/>
              </a:ext>
            </a:extLst>
          </p:cNvPr>
          <p:cNvSpPr/>
          <p:nvPr/>
        </p:nvSpPr>
        <p:spPr>
          <a:xfrm>
            <a:off x="434566" y="887240"/>
            <a:ext cx="8120959" cy="5251009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25A82B-94FB-33C2-CD4F-2589B9CCF3CA}"/>
              </a:ext>
            </a:extLst>
          </p:cNvPr>
          <p:cNvSpPr txBox="1"/>
          <p:nvPr/>
        </p:nvSpPr>
        <p:spPr>
          <a:xfrm>
            <a:off x="577157" y="1054602"/>
            <a:ext cx="783577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Problema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abordat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ă se bazează pe jocul 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“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Candy Crush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”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(c).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Dezvoltat de compania de jocuri Suedeză 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“King”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 și publicat în anul 2012 pentru browser și platformele mobile.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Joc de tip </a:t>
            </a:r>
            <a:r>
              <a:rPr lang="ro-RO" sz="2400" b="1" dirty="0">
                <a:solidFill>
                  <a:srgbClr val="595460"/>
                </a:solidFill>
                <a:latin typeface="Corbel" panose="020B0503020204020204" pitchFamily="34" charset="0"/>
              </a:rPr>
              <a:t>puzzle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, face parte din categoria 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“Match three”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.</a:t>
            </a:r>
            <a:endParaRPr lang="en-US" sz="2400" dirty="0">
              <a:solidFill>
                <a:srgbClr val="595460"/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Implic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ă un jucător și un tablou de joc, în care sunt așezate bomboane de diferite culori.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Scopul este obținerea unui anumit scor, prin formarea unor modele din bomboane de aceeași culoare.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Jucătorul are posibilitatea de a interschimba bomboane adiacente ortogonal, pentru formarea modelelor.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Ne propunem obținerea unui număr </a:t>
            </a:r>
            <a:r>
              <a:rPr lang="ro-RO" sz="2400" b="1" dirty="0">
                <a:solidFill>
                  <a:srgbClr val="595460"/>
                </a:solidFill>
                <a:latin typeface="Corbel" panose="020B0503020204020204" pitchFamily="34" charset="0"/>
              </a:rPr>
              <a:t>minim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 de interschimbări.</a:t>
            </a:r>
            <a:endParaRPr lang="en-US" sz="24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F24D76-D128-4C44-DC6A-26BE39B46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6360" y="1394327"/>
            <a:ext cx="24384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AECAB07-AF32-D353-ECFD-51CA87AC5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449" y="3682498"/>
            <a:ext cx="2595328" cy="176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C01AE5-2213-9CCE-AA4E-FAAA3C095DD3}"/>
              </a:ext>
            </a:extLst>
          </p:cNvPr>
          <p:cNvSpPr txBox="1"/>
          <p:nvPr/>
        </p:nvSpPr>
        <p:spPr>
          <a:xfrm>
            <a:off x="434566" y="548686"/>
            <a:ext cx="1738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solidFill>
                  <a:srgbClr val="595460"/>
                </a:solidFill>
                <a:latin typeface="Corbel" panose="020B0503020204020204" pitchFamily="34" charset="0"/>
              </a:rPr>
              <a:t>Introducere</a:t>
            </a:r>
            <a:endParaRPr lang="en-US" sz="16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170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7BCA8-6192-9ADD-81EC-0B58F4F01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153" y="3115307"/>
            <a:ext cx="10593694" cy="871626"/>
          </a:xfrm>
        </p:spPr>
        <p:txBody>
          <a:bodyPr>
            <a:noAutofit/>
          </a:bodyPr>
          <a:lstStyle/>
          <a:p>
            <a:r>
              <a:rPr lang="ro-RO" dirty="0">
                <a:solidFill>
                  <a:srgbClr val="595460"/>
                </a:solidFill>
                <a:latin typeface="Corbel" panose="020B0503020204020204" pitchFamily="34" charset="0"/>
              </a:rPr>
              <a:t>Tehnologii utilizate</a:t>
            </a:r>
            <a:endParaRPr lang="en-US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0D08B-EE26-BB5A-82C7-32D2D1803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63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2F0DB4-4D29-9F8D-C170-BAC8209EDC75}"/>
              </a:ext>
            </a:extLst>
          </p:cNvPr>
          <p:cNvSpPr/>
          <p:nvPr/>
        </p:nvSpPr>
        <p:spPr>
          <a:xfrm>
            <a:off x="-131275" y="-165226"/>
            <a:ext cx="5118988" cy="7188451"/>
          </a:xfrm>
          <a:prstGeom prst="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76200">
                <a:solidFill>
                  <a:srgbClr val="59546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51EE44-C19E-DF3F-4229-8740D4BA56D5}"/>
              </a:ext>
            </a:extLst>
          </p:cNvPr>
          <p:cNvSpPr txBox="1"/>
          <p:nvPr/>
        </p:nvSpPr>
        <p:spPr>
          <a:xfrm>
            <a:off x="5042683" y="78204"/>
            <a:ext cx="2534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solidFill>
                  <a:srgbClr val="595460"/>
                </a:solidFill>
                <a:latin typeface="Corbel" panose="020B0503020204020204" pitchFamily="34" charset="0"/>
              </a:rPr>
              <a:t>Tehnologii utilizate</a:t>
            </a:r>
            <a:endParaRPr lang="en-US" sz="14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pic>
        <p:nvPicPr>
          <p:cNvPr id="2050" name="Picture 2" descr="Python (programming language) - Wikipedia">
            <a:extLst>
              <a:ext uri="{FF2B5EF4-FFF2-40B4-BE49-F238E27FC236}">
                <a16:creationId xmlns:a16="http://schemas.microsoft.com/office/drawing/2014/main" id="{D7C15262-31E4-DCCE-B298-92AE4632B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8169" y="2737796"/>
            <a:ext cx="1382405" cy="1382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62B0253-3D07-8022-8B51-806081597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468" y="1200797"/>
            <a:ext cx="4003881" cy="180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0FBDD5-A407-4A0F-87C3-01E2BA4A0492}"/>
              </a:ext>
            </a:extLst>
          </p:cNvPr>
          <p:cNvSpPr txBox="1"/>
          <p:nvPr/>
        </p:nvSpPr>
        <p:spPr>
          <a:xfrm>
            <a:off x="0" y="2459502"/>
            <a:ext cx="51189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400" dirty="0">
                <a:latin typeface="Corbel" panose="020B0503020204020204" pitchFamily="34" charset="0"/>
              </a:rPr>
              <a:t>Limbajul de programare Python, versiunea 3.12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400" dirty="0">
                <a:latin typeface="Corbel" panose="020B0503020204020204" pitchFamily="34" charset="0"/>
              </a:rPr>
              <a:t>Librăria Numpy, versiunea 2.3.4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400" dirty="0">
                <a:latin typeface="Corbel" panose="020B0503020204020204" pitchFamily="34" charset="0"/>
              </a:rPr>
              <a:t>Modulul colorama, versiunea 0.4.6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400" dirty="0">
                <a:latin typeface="Corbel" panose="020B0503020204020204" pitchFamily="34" charset="0"/>
              </a:rPr>
              <a:t>Pip, versiunea 25.0.1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E68F50A2-3FFB-BBAF-5A81-408242630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168" y="4020393"/>
            <a:ext cx="238125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2406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49448-419B-2B76-976E-CB9524AB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95460"/>
                </a:solidFill>
                <a:latin typeface="Corbel" panose="020B0503020204020204" pitchFamily="34" charset="0"/>
              </a:rPr>
              <a:t>Analiza </a:t>
            </a:r>
            <a:r>
              <a:rPr lang="en-US" dirty="0" err="1">
                <a:solidFill>
                  <a:srgbClr val="595460"/>
                </a:solidFill>
                <a:latin typeface="Corbel" panose="020B0503020204020204" pitchFamily="34" charset="0"/>
              </a:rPr>
              <a:t>problemei</a:t>
            </a:r>
            <a:endParaRPr lang="en-US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27443-7A6E-81BA-96E4-B4E768B73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66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7E6399-3FA9-2FF1-9896-150ACDF3B626}"/>
              </a:ext>
            </a:extLst>
          </p:cNvPr>
          <p:cNvSpPr/>
          <p:nvPr/>
        </p:nvSpPr>
        <p:spPr>
          <a:xfrm>
            <a:off x="601184" y="836094"/>
            <a:ext cx="5374741" cy="5472342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9B9A5-61BB-DB78-1D5B-8A30A7CC9C88}"/>
              </a:ext>
            </a:extLst>
          </p:cNvPr>
          <p:cNvSpPr txBox="1"/>
          <p:nvPr/>
        </p:nvSpPr>
        <p:spPr>
          <a:xfrm>
            <a:off x="601184" y="497540"/>
            <a:ext cx="2409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solidFill>
                  <a:srgbClr val="595460"/>
                </a:solidFill>
                <a:latin typeface="Corbel" panose="020B0503020204020204" pitchFamily="34" charset="0"/>
              </a:rPr>
              <a:t>Analiza problemei</a:t>
            </a:r>
            <a:endParaRPr lang="en-US" sz="16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F450B-8196-A0D8-BC5E-9DCB9CDD2F95}"/>
              </a:ext>
            </a:extLst>
          </p:cNvPr>
          <p:cNvSpPr txBox="1"/>
          <p:nvPr/>
        </p:nvSpPr>
        <p:spPr>
          <a:xfrm>
            <a:off x="683490" y="951345"/>
            <a:ext cx="517236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La distrugerea unui model format din bomboane, în locul bomboanelor distruse ramân spații goale.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Aceste spații sunt ocupate de bomboanele de deasupra lor, într-o manieră gravitațională.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La finalul gravitației, în partea de sus a tabloului rămân spații goale, care trebuiesc reocupate.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Reumplerea este realizată cu bomboane aleator alese, ceea ce oferă problemei un caracter euristic și împiedică folosirea programării dinamice.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o-RO" sz="24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76E77D-F96A-CCA6-DCE8-884E099E17AB}"/>
              </a:ext>
            </a:extLst>
          </p:cNvPr>
          <p:cNvSpPr/>
          <p:nvPr/>
        </p:nvSpPr>
        <p:spPr>
          <a:xfrm>
            <a:off x="5975925" y="1879230"/>
            <a:ext cx="5200071" cy="4429206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AFDA17-D522-9871-04AB-3B155CBA4BA5}"/>
              </a:ext>
            </a:extLst>
          </p:cNvPr>
          <p:cNvSpPr txBox="1"/>
          <p:nvPr/>
        </p:nvSpPr>
        <p:spPr>
          <a:xfrm>
            <a:off x="6086758" y="2059523"/>
            <a:ext cx="508923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În urma reumplerii tabloului de joc, există șansa formării a noi modele de bomboane.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Din acest caz, este necesară o altă rundă de căutare a modelelor, a distrugerii acestora și a reumplerii matricei, după care este necesară o altă rundă...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Acest procedeu de căutare 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“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cascad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ă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”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 se repetă până ce nu mai sunt modele noi formate.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63C350-2F65-B5BE-5C34-C8A7CC6CC447}"/>
              </a:ext>
            </a:extLst>
          </p:cNvPr>
          <p:cNvSpPr txBox="1"/>
          <p:nvPr/>
        </p:nvSpPr>
        <p:spPr>
          <a:xfrm>
            <a:off x="5975925" y="1356010"/>
            <a:ext cx="2807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>
                <a:solidFill>
                  <a:srgbClr val="595460"/>
                </a:solidFill>
                <a:latin typeface="Corbel" panose="020B0503020204020204" pitchFamily="34" charset="0"/>
              </a:rPr>
              <a:t>Cascada</a:t>
            </a:r>
            <a:endParaRPr lang="en-US" sz="28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399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F5DCB3-5520-32B3-7513-846240465DC5}"/>
              </a:ext>
            </a:extLst>
          </p:cNvPr>
          <p:cNvSpPr/>
          <p:nvPr/>
        </p:nvSpPr>
        <p:spPr>
          <a:xfrm>
            <a:off x="905985" y="891511"/>
            <a:ext cx="10214597" cy="4022234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D94337-8556-6970-3595-B3F3A4D47DBB}"/>
              </a:ext>
            </a:extLst>
          </p:cNvPr>
          <p:cNvSpPr txBox="1"/>
          <p:nvPr/>
        </p:nvSpPr>
        <p:spPr>
          <a:xfrm>
            <a:off x="1173251" y="2014033"/>
            <a:ext cx="97626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Linie de 5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bomboane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, pe orizontală sau veriticală, oferă 50 de puncte.</a:t>
            </a:r>
            <a:endParaRPr lang="en-US" sz="2400" dirty="0">
              <a:solidFill>
                <a:srgbClr val="595460"/>
              </a:solidFill>
              <a:latin typeface="Corbel" panose="020B05030202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Linie de 4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bomboane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, pe orizontală sau veriticală, oferă 10 puncte.</a:t>
            </a:r>
            <a:endParaRPr lang="en-US" sz="2400" dirty="0">
              <a:solidFill>
                <a:srgbClr val="595460"/>
              </a:solidFill>
              <a:latin typeface="Corbel" panose="020B05030202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Linie de 3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bomboane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, pe orizontală sau veriticală, oferă 5 puncte.</a:t>
            </a:r>
            <a:endParaRPr lang="en-US" sz="2400" dirty="0">
              <a:solidFill>
                <a:srgbClr val="595460"/>
              </a:solidFill>
              <a:latin typeface="Corbel" panose="020B05030202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L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 (2 linii de 3 bomboane intersectate)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, cu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toate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rota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țiile posibile, oferă 20 de puncte.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T (3 linii de 3 bomboane intersectate), cu toate rotațiile posibile, oferă 30 de puncte.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8B695C-D9BE-4DA9-23D2-10C7492E009F}"/>
              </a:ext>
            </a:extLst>
          </p:cNvPr>
          <p:cNvSpPr/>
          <p:nvPr/>
        </p:nvSpPr>
        <p:spPr>
          <a:xfrm>
            <a:off x="905985" y="4913745"/>
            <a:ext cx="10214597" cy="636911"/>
          </a:xfrm>
          <a:prstGeom prst="rect">
            <a:avLst/>
          </a:prstGeom>
          <a:solidFill>
            <a:srgbClr val="97A7B8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820FA0-0F8E-CE9E-4ED1-9C0D368972E0}"/>
              </a:ext>
            </a:extLst>
          </p:cNvPr>
          <p:cNvSpPr txBox="1"/>
          <p:nvPr/>
        </p:nvSpPr>
        <p:spPr>
          <a:xfrm>
            <a:off x="1071418" y="1039919"/>
            <a:ext cx="102145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Versiunea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problemei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abordate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con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ține 5 modele care se pot forma,</a:t>
            </a:r>
          </a:p>
          <a:p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fiecare oferind un număr de puncte diferite, la distrugere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:</a:t>
            </a:r>
            <a:endParaRPr lang="ro-RO" sz="2400" dirty="0">
              <a:solidFill>
                <a:srgbClr val="595460"/>
              </a:solidFill>
              <a:latin typeface="Corbel" panose="020B0503020204020204" pitchFamily="34" charset="0"/>
            </a:endParaRPr>
          </a:p>
          <a:p>
            <a:endParaRPr lang="en-US" sz="2400" dirty="0">
              <a:solidFill>
                <a:srgbClr val="5954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32459E-AEF6-8755-169C-86C7736B4638}"/>
              </a:ext>
            </a:extLst>
          </p:cNvPr>
          <p:cNvSpPr txBox="1"/>
          <p:nvPr/>
        </p:nvSpPr>
        <p:spPr>
          <a:xfrm>
            <a:off x="990128" y="5001367"/>
            <a:ext cx="10130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Pentru această configurație a problemei, este inutilă căutarea formelor de tip T.</a:t>
            </a:r>
            <a:endParaRPr lang="en-US" sz="24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5705AF-54C3-479A-0A36-6ABD21DCFE4D}"/>
              </a:ext>
            </a:extLst>
          </p:cNvPr>
          <p:cNvSpPr txBox="1"/>
          <p:nvPr/>
        </p:nvSpPr>
        <p:spPr>
          <a:xfrm>
            <a:off x="905984" y="558202"/>
            <a:ext cx="2409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solidFill>
                  <a:srgbClr val="595460"/>
                </a:solidFill>
                <a:latin typeface="Corbel" panose="020B0503020204020204" pitchFamily="34" charset="0"/>
              </a:rPr>
              <a:t>Analiza problemei</a:t>
            </a:r>
            <a:endParaRPr lang="en-US" sz="16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395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A8C60F-1463-3796-F981-7E367BF5FB6B}"/>
              </a:ext>
            </a:extLst>
          </p:cNvPr>
          <p:cNvSpPr/>
          <p:nvPr/>
        </p:nvSpPr>
        <p:spPr>
          <a:xfrm>
            <a:off x="601184" y="836094"/>
            <a:ext cx="5374741" cy="4604586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73EF41-B135-3FD1-0C9D-20383800DF59}"/>
              </a:ext>
            </a:extLst>
          </p:cNvPr>
          <p:cNvSpPr txBox="1"/>
          <p:nvPr/>
        </p:nvSpPr>
        <p:spPr>
          <a:xfrm>
            <a:off x="776263" y="1062182"/>
            <a:ext cx="498342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Există șansa ca, la un moment dat, să nu mai existe interschimbări care să formeze modele, caz în care jocul se oprește.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Această șansă crește o dată cu scăderea dimensiunii tabloului de joc.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Dimensiunea tabelei de joc este, de asemenea, direct proporțională cu numărul de interschimbări necesar pentru atingerea țintei.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F9954C-E03A-13B6-365A-C171CF30A40B}"/>
              </a:ext>
            </a:extLst>
          </p:cNvPr>
          <p:cNvSpPr/>
          <p:nvPr/>
        </p:nvSpPr>
        <p:spPr>
          <a:xfrm>
            <a:off x="5975924" y="836094"/>
            <a:ext cx="5374741" cy="3845634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7683B9-8561-D070-B2E5-E3BF53F0D899}"/>
              </a:ext>
            </a:extLst>
          </p:cNvPr>
          <p:cNvSpPr txBox="1"/>
          <p:nvPr/>
        </p:nvSpPr>
        <p:spPr>
          <a:xfrm>
            <a:off x="6192159" y="1062182"/>
            <a:ext cx="49691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În același timp, există posibilitatea ca două modele să aibă bomboane comune.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În acest sens, o interschimbare poate genera două modele care au bomboane comune.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O tratare simplă a acestor 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“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coliziuni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”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 este alegerea modelului cu valoare mai mare.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FAF17D-1CC3-CDAA-6EF4-7EF8142DDBE9}"/>
              </a:ext>
            </a:extLst>
          </p:cNvPr>
          <p:cNvSpPr txBox="1"/>
          <p:nvPr/>
        </p:nvSpPr>
        <p:spPr>
          <a:xfrm>
            <a:off x="601184" y="497540"/>
            <a:ext cx="2409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solidFill>
                  <a:srgbClr val="595460"/>
                </a:solidFill>
                <a:latin typeface="Corbel" panose="020B0503020204020204" pitchFamily="34" charset="0"/>
              </a:rPr>
              <a:t>Analiza problemei</a:t>
            </a:r>
            <a:endParaRPr lang="en-US" sz="16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572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D0032-A278-0589-9488-E88A2EC71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solidFill>
                  <a:srgbClr val="595460"/>
                </a:solidFill>
                <a:latin typeface="Corbel" panose="020B0503020204020204" pitchFamily="34" charset="0"/>
              </a:rPr>
              <a:t>Algoritmul de rezolvare</a:t>
            </a:r>
            <a:endParaRPr lang="en-US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D5D8A-460F-6EFC-30D7-EE6908E79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33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99B17B-8ECF-40B8-41FC-BCA5BFCFE63F}"/>
              </a:ext>
            </a:extLst>
          </p:cNvPr>
          <p:cNvSpPr/>
          <p:nvPr/>
        </p:nvSpPr>
        <p:spPr>
          <a:xfrm>
            <a:off x="1750975" y="1144587"/>
            <a:ext cx="8090141" cy="4840429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25475A-0362-3258-E9A5-D3368493D59B}"/>
              </a:ext>
            </a:extLst>
          </p:cNvPr>
          <p:cNvSpPr txBox="1"/>
          <p:nvPr/>
        </p:nvSpPr>
        <p:spPr>
          <a:xfrm>
            <a:off x="1871370" y="1283067"/>
            <a:ext cx="775246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Strategia abordată în cadrul algoritmului, este de tip </a:t>
            </a:r>
            <a:r>
              <a:rPr lang="ro-RO" sz="2400" b="1" dirty="0">
                <a:solidFill>
                  <a:srgbClr val="595460"/>
                </a:solidFill>
                <a:latin typeface="Corbel" panose="020B0503020204020204" pitchFamily="34" charset="0"/>
              </a:rPr>
              <a:t>greedy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Pe tot parcursul algoritmului, se alege cea mai bună acțiune posibilă la un moment dat, pentru starea tabloului de joc la acel moment.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Datorită caracterului euristic impus de problemă, rezultatele algoritmului pot varia pentru aceeași matrice de intrare.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Eficiența algoritmului păstrează, totuși, o stare aproximativ constantă. De exemplu, pentru tabele de joc de dimensiuni 11 x 11, algoritmul realizează un număr mediu de 170 de interschimbări.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E04899-621A-7246-9C4A-266BC753C4B4}"/>
              </a:ext>
            </a:extLst>
          </p:cNvPr>
          <p:cNvSpPr txBox="1"/>
          <p:nvPr/>
        </p:nvSpPr>
        <p:spPr>
          <a:xfrm>
            <a:off x="1750975" y="806033"/>
            <a:ext cx="2601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solidFill>
                  <a:srgbClr val="595460"/>
                </a:solidFill>
                <a:latin typeface="Corbel" panose="020B0503020204020204" pitchFamily="34" charset="0"/>
              </a:rPr>
              <a:t>Algoritmul de rezolvare</a:t>
            </a:r>
            <a:endParaRPr lang="en-US" sz="16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602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47EB1B-04B2-51D5-F641-8A31BD4C52AA}"/>
              </a:ext>
            </a:extLst>
          </p:cNvPr>
          <p:cNvSpPr/>
          <p:nvPr/>
        </p:nvSpPr>
        <p:spPr>
          <a:xfrm>
            <a:off x="736985" y="951750"/>
            <a:ext cx="7963392" cy="2370693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5C6522-0D50-B46E-4DBF-E1A901FA34B0}"/>
              </a:ext>
            </a:extLst>
          </p:cNvPr>
          <p:cNvSpPr txBox="1"/>
          <p:nvPr/>
        </p:nvSpPr>
        <p:spPr>
          <a:xfrm>
            <a:off x="950612" y="1143498"/>
            <a:ext cx="71431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În explicația ce urmează, vom folosii următorii terme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ni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Model 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potențial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Căutare cascadă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Interschimbare oficială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Interschimbare neoficială</a:t>
            </a:r>
            <a:endParaRPr lang="en-US" sz="24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DC6C98-3B11-7780-E320-7B29B13B2B29}"/>
              </a:ext>
            </a:extLst>
          </p:cNvPr>
          <p:cNvSpPr/>
          <p:nvPr/>
        </p:nvSpPr>
        <p:spPr>
          <a:xfrm>
            <a:off x="736985" y="3321308"/>
            <a:ext cx="9276147" cy="3061386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C2CFB3-EC01-AE71-B1B0-0B976509378A}"/>
              </a:ext>
            </a:extLst>
          </p:cNvPr>
          <p:cNvSpPr txBox="1"/>
          <p:nvPr/>
        </p:nvSpPr>
        <p:spPr>
          <a:xfrm>
            <a:off x="950614" y="3494140"/>
            <a:ext cx="87999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rgbClr val="595460"/>
                </a:solidFill>
                <a:latin typeface="Corbel" panose="020B0503020204020204" pitchFamily="34" charset="0"/>
              </a:rPr>
              <a:t>Model potențial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: o 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așezare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specific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ă de bomboane, în așa fel încât, în urma unei interschimbări, să creeze un model propriu-zis.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rgbClr val="595460"/>
                </a:solidFill>
                <a:latin typeface="Corbel" panose="020B0503020204020204" pitchFamily="34" charset="0"/>
              </a:rPr>
              <a:t>Căutare cascadă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: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Repetarea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procesului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de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eliminare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a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modelelor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formate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 în tablou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, de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gravitare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 a bomboanelor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și de reumplere a tabelei până ce nu se mai găsesc modele formate.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rgbClr val="595460"/>
                </a:solidFill>
                <a:latin typeface="Corbel" panose="020B0503020204020204" pitchFamily="34" charset="0"/>
              </a:rPr>
              <a:t>Interschimbare </a:t>
            </a:r>
            <a:r>
              <a:rPr lang="en-US" sz="2400" b="1" dirty="0" err="1">
                <a:solidFill>
                  <a:srgbClr val="595460"/>
                </a:solidFill>
                <a:latin typeface="Corbel" panose="020B0503020204020204" pitchFamily="34" charset="0"/>
              </a:rPr>
              <a:t>neoficial</a:t>
            </a:r>
            <a:r>
              <a:rPr lang="ro-RO" sz="2400" b="1" dirty="0">
                <a:solidFill>
                  <a:srgbClr val="595460"/>
                </a:solidFill>
                <a:latin typeface="Corbel" panose="020B0503020204020204" pitchFamily="34" charset="0"/>
              </a:rPr>
              <a:t>ă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: o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interschimbare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care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ajut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ă la detecția modelelor potențiale. Nu se numără și poate fii revocată</a:t>
            </a:r>
            <a:endParaRPr lang="en-US" sz="24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7ECD64-12AF-A18B-8B03-FD1200AE0FE8}"/>
              </a:ext>
            </a:extLst>
          </p:cNvPr>
          <p:cNvSpPr txBox="1"/>
          <p:nvPr/>
        </p:nvSpPr>
        <p:spPr>
          <a:xfrm>
            <a:off x="736985" y="595417"/>
            <a:ext cx="2409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solidFill>
                  <a:srgbClr val="595460"/>
                </a:solidFill>
                <a:latin typeface="Corbel" panose="020B0503020204020204" pitchFamily="34" charset="0"/>
              </a:rPr>
              <a:t>Algoritmul de rezolvare</a:t>
            </a:r>
            <a:endParaRPr lang="en-US" sz="16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54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9C0893-ADDC-B5D4-9D90-89BDE4F36569}"/>
              </a:ext>
            </a:extLst>
          </p:cNvPr>
          <p:cNvSpPr/>
          <p:nvPr/>
        </p:nvSpPr>
        <p:spPr>
          <a:xfrm>
            <a:off x="1669491" y="1178087"/>
            <a:ext cx="8705779" cy="4634238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F5E4DC-81C6-DB9B-0266-E0B5EB2CA7EF}"/>
              </a:ext>
            </a:extLst>
          </p:cNvPr>
          <p:cNvSpPr txBox="1"/>
          <p:nvPr/>
        </p:nvSpPr>
        <p:spPr>
          <a:xfrm>
            <a:off x="1816730" y="1417714"/>
            <a:ext cx="817531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Algoritmul de rezolvare începe cu o căutare cascadă.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Până ce este atinsă ținta sau nu mai sunt interschimbări valide, se repetă următorul procedeu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Se caută modelul potențial de cea mai mare valoare. Se face o căutare, pe rând, a modelelor linie de 5 bomboane, apoi a modelelor L, apoi a modelelor linie de 4 bomboane, iar la final, a modelelor linie de 3 bomboane.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Când (sau dacă) este găsit un astfel de model, bomboanele din care este format sunt distruse, punctele aferente sunt adăugate, și are loc o căutare cascadă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Procesul de căutare este repetat, de la început.</a:t>
            </a:r>
            <a:endParaRPr lang="en-US" sz="24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00952-F7F0-76FD-8EB8-6D63A74962E2}"/>
              </a:ext>
            </a:extLst>
          </p:cNvPr>
          <p:cNvSpPr txBox="1"/>
          <p:nvPr/>
        </p:nvSpPr>
        <p:spPr>
          <a:xfrm>
            <a:off x="1669491" y="839533"/>
            <a:ext cx="2409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solidFill>
                  <a:srgbClr val="595460"/>
                </a:solidFill>
                <a:latin typeface="Corbel" panose="020B0503020204020204" pitchFamily="34" charset="0"/>
              </a:rPr>
              <a:t>Algoritmul de rezolvare</a:t>
            </a:r>
            <a:endParaRPr lang="en-US" sz="16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232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6F4D80-4730-9BCC-7529-C306828ABB8E}"/>
              </a:ext>
            </a:extLst>
          </p:cNvPr>
          <p:cNvSpPr/>
          <p:nvPr/>
        </p:nvSpPr>
        <p:spPr>
          <a:xfrm>
            <a:off x="1316406" y="797861"/>
            <a:ext cx="8959277" cy="5262277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414861-3B84-9E13-BF94-15A3F472DAC6}"/>
              </a:ext>
            </a:extLst>
          </p:cNvPr>
          <p:cNvSpPr txBox="1"/>
          <p:nvPr/>
        </p:nvSpPr>
        <p:spPr>
          <a:xfrm>
            <a:off x="1243254" y="459307"/>
            <a:ext cx="2409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solidFill>
                  <a:srgbClr val="595460"/>
                </a:solidFill>
                <a:latin typeface="Corbel" panose="020B0503020204020204" pitchFamily="34" charset="0"/>
              </a:rPr>
              <a:t>Algoritmul de rezolvare</a:t>
            </a:r>
            <a:endParaRPr lang="en-US" sz="16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EF14AE-A9CE-1766-5E46-FF631F2ECDB7}"/>
              </a:ext>
            </a:extLst>
          </p:cNvPr>
          <p:cNvSpPr txBox="1"/>
          <p:nvPr/>
        </p:nvSpPr>
        <p:spPr>
          <a:xfrm>
            <a:off x="1548142" y="995902"/>
            <a:ext cx="836540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Pentru căutarea modelelor potențiale se folosește câte o rutină specifică pentru fiecare model. La bază, fiecare are următorul raționament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:</a:t>
            </a:r>
            <a:endParaRPr lang="ro-RO" sz="2400" dirty="0">
              <a:solidFill>
                <a:srgbClr val="595460"/>
              </a:solidFill>
              <a:latin typeface="Corbel" panose="020B05030202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Se ține cont de interschimbările posibile pentru generarea unui model.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Se parcurg elementele din tabloul de joc, începând de jos. Fiecare element reprezintă o ancoră pentru detecția modelelor potențiale.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Modelele potențiale se detectează folosind interschimbările neoficiale.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Dacă o interschimbare neoficială generează modelul căutat, ea devine oficială, iar modelul potențial devine model propriu zis, care este distrus.</a:t>
            </a:r>
          </a:p>
        </p:txBody>
      </p:sp>
    </p:spTree>
    <p:extLst>
      <p:ext uri="{BB962C8B-B14F-4D97-AF65-F5344CB8AC3E}">
        <p14:creationId xmlns:p14="http://schemas.microsoft.com/office/powerpoint/2010/main" val="2405043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8366F-2B9D-BCFD-B562-C0AC4BA7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Corbel" panose="020B0503020204020204" pitchFamily="34" charset="0"/>
              </a:rPr>
              <a:t>Limitări</a:t>
            </a:r>
            <a:endParaRPr lang="en-US" dirty="0">
              <a:latin typeface="Corbel" panose="020B05030202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E3239-0EE9-D255-8695-2438D45EA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48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AD07ED-94B2-B4FB-C8D2-9D6123731E99}"/>
              </a:ext>
            </a:extLst>
          </p:cNvPr>
          <p:cNvSpPr/>
          <p:nvPr/>
        </p:nvSpPr>
        <p:spPr>
          <a:xfrm>
            <a:off x="1971302" y="1096862"/>
            <a:ext cx="8249396" cy="4947322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352C5-AAF6-BC2F-5084-6E20254B28A0}"/>
              </a:ext>
            </a:extLst>
          </p:cNvPr>
          <p:cNvSpPr txBox="1"/>
          <p:nvPr/>
        </p:nvSpPr>
        <p:spPr>
          <a:xfrm>
            <a:off x="2337062" y="1308365"/>
            <a:ext cx="787651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Datorită metodei de detectare a modelelor potențiale de tip L, este necesară ca tabela de joc să fie de dimensiune minimă 5x5.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Datele de intrare sunt limitate la 4 culor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i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Rularea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aplica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ției pentru seturi de date mari poate prezenta timpuri de execuție foarte mari.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Modelele pe care le pot forma bomboanele sunt relativ restânse, în comparație cu cele prezente în jocul de bază.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O direcție de scădere al interschimbărilor ar presupune maximizarea căutărilor cascadă.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O îmbunătățire a timpului de execuție poate fii adusă de utilizarea proceselor paralele în căutarea modelelor.</a:t>
            </a:r>
            <a:endParaRPr lang="en-US" sz="24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655DE4-0998-9918-8A47-FA0F0AF013A4}"/>
              </a:ext>
            </a:extLst>
          </p:cNvPr>
          <p:cNvSpPr txBox="1"/>
          <p:nvPr/>
        </p:nvSpPr>
        <p:spPr>
          <a:xfrm>
            <a:off x="1870717" y="758307"/>
            <a:ext cx="3304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solidFill>
                  <a:srgbClr val="595460"/>
                </a:solidFill>
                <a:latin typeface="Corbel" panose="020B0503020204020204" pitchFamily="34" charset="0"/>
              </a:rPr>
              <a:t>Limitări și direcții viitoare</a:t>
            </a:r>
            <a:endParaRPr lang="en-US" sz="16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363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A1F83-1AC6-7578-FA4D-F4E3504D5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2626" y="2780343"/>
            <a:ext cx="3086747" cy="1297313"/>
          </a:xfrm>
        </p:spPr>
        <p:txBody>
          <a:bodyPr>
            <a:normAutofit/>
          </a:bodyPr>
          <a:lstStyle/>
          <a:p>
            <a:pPr algn="ctr"/>
            <a:r>
              <a:rPr lang="ro-RO" sz="4400" dirty="0">
                <a:solidFill>
                  <a:schemeClr val="bg1">
                    <a:lumMod val="95000"/>
                  </a:schemeClr>
                </a:solidFill>
                <a:latin typeface="Corbel" panose="020B0503020204020204" pitchFamily="34" charset="0"/>
              </a:rPr>
              <a:t>Mulțumesc</a:t>
            </a:r>
            <a:endParaRPr lang="en-US" sz="4400" dirty="0">
              <a:solidFill>
                <a:schemeClr val="bg1">
                  <a:lumMod val="95000"/>
                </a:schemeClr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813806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0781EDCB846045A61B8C1757B90F59" ma:contentTypeVersion="5" ma:contentTypeDescription="Create a new document." ma:contentTypeScope="" ma:versionID="e1a2ca09971a29c33316de4efcac1358">
  <xsd:schema xmlns:xsd="http://www.w3.org/2001/XMLSchema" xmlns:xs="http://www.w3.org/2001/XMLSchema" xmlns:p="http://schemas.microsoft.com/office/2006/metadata/properties" xmlns:ns3="fe540e69-2d1c-449d-8fa7-5313f04f1d97" targetNamespace="http://schemas.microsoft.com/office/2006/metadata/properties" ma:root="true" ma:fieldsID="46ef629c1d0b38e37f719ffc516fb2e5" ns3:_="">
    <xsd:import namespace="fe540e69-2d1c-449d-8fa7-5313f04f1d9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540e69-2d1c-449d-8fa7-5313f04f1d9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FF477C-132F-44F8-8C56-EBFF95FAF97B}">
  <ds:schemaRefs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2006/documentManagement/types"/>
    <ds:schemaRef ds:uri="fe540e69-2d1c-449d-8fa7-5313f04f1d97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C9E5516-441A-4F7B-A287-B4DC6B851D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540e69-2d1c-449d-8fa7-5313f04f1d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{11B658E2-20CE-471B-B921-CF8B875D4C0C}TF2b9189fa-8f70-44c5-a025-8c7b018ae2a95a18b6f7_win32-f1ac09ee8c52</Template>
  <TotalTime>216</TotalTime>
  <Words>1039</Words>
  <Application>Microsoft Office PowerPoint</Application>
  <PresentationFormat>Widescreen</PresentationFormat>
  <Paragraphs>85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Meiryo</vt:lpstr>
      <vt:lpstr>Arial</vt:lpstr>
      <vt:lpstr>Calibri</vt:lpstr>
      <vt:lpstr>Corbel</vt:lpstr>
      <vt:lpstr>ShojiVTI</vt:lpstr>
      <vt:lpstr>Automatizarea jocului Candy Crush</vt:lpstr>
      <vt:lpstr>PowerPoint Presentation</vt:lpstr>
      <vt:lpstr>Introducere</vt:lpstr>
      <vt:lpstr>PowerPoint Presentation</vt:lpstr>
      <vt:lpstr>Tehnologii utilizate</vt:lpstr>
      <vt:lpstr>PowerPoint Presentation</vt:lpstr>
      <vt:lpstr>Analiza problemei</vt:lpstr>
      <vt:lpstr>PowerPoint Presentation</vt:lpstr>
      <vt:lpstr>PowerPoint Presentation</vt:lpstr>
      <vt:lpstr>PowerPoint Presentation</vt:lpstr>
      <vt:lpstr>Algoritmul de rezolvare</vt:lpstr>
      <vt:lpstr>PowerPoint Presentation</vt:lpstr>
      <vt:lpstr>PowerPoint Presentation</vt:lpstr>
      <vt:lpstr>PowerPoint Presentation</vt:lpstr>
      <vt:lpstr>PowerPoint Presentation</vt:lpstr>
      <vt:lpstr>Limitări</vt:lpstr>
      <vt:lpstr>PowerPoint Presentation</vt:lpstr>
      <vt:lpstr>Mulțumesc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Stefan Lupse</dc:creator>
  <cp:lastModifiedBy>Paul Stefan Lupse</cp:lastModifiedBy>
  <cp:revision>16</cp:revision>
  <dcterms:created xsi:type="dcterms:W3CDTF">2025-11-08T13:38:44Z</dcterms:created>
  <dcterms:modified xsi:type="dcterms:W3CDTF">2025-11-09T10:35:08Z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0x010100310781EDCB846045A61B8C1757B90F59</vt:lpwstr>
  </property>
  <property fmtid="{D5CDD505-2E9C-101B-9397-08002B2CF9AE}" pid="3" name="MediaServiceImageTags">
    <vt:lpwstr/>
  </property>
  <property fmtid="{D5CDD505-2E9C-101B-9397-08002B2CF9AE}" pid="4" name="MSIP_Label_5b58b62f-6f94-46bd-8089-18e64b0a9abb_Enabled">
    <vt:lpwstr>true</vt:lpwstr>
  </property>
  <property fmtid="{D5CDD505-2E9C-101B-9397-08002B2CF9AE}" pid="5" name="MSIP_Label_5b58b62f-6f94-46bd-8089-18e64b0a9abb_SetDate">
    <vt:lpwstr>2025-11-08T13:58:05Z</vt:lpwstr>
  </property>
  <property fmtid="{D5CDD505-2E9C-101B-9397-08002B2CF9AE}" pid="6" name="MSIP_Label_5b58b62f-6f94-46bd-8089-18e64b0a9abb_Method">
    <vt:lpwstr>Standard</vt:lpwstr>
  </property>
  <property fmtid="{D5CDD505-2E9C-101B-9397-08002B2CF9AE}" pid="7" name="MSIP_Label_5b58b62f-6f94-46bd-8089-18e64b0a9abb_Name">
    <vt:lpwstr>defa4170-0d19-0005-0004-bc88714345d2</vt:lpwstr>
  </property>
  <property fmtid="{D5CDD505-2E9C-101B-9397-08002B2CF9AE}" pid="8" name="MSIP_Label_5b58b62f-6f94-46bd-8089-18e64b0a9abb_SiteId">
    <vt:lpwstr>a6eb79fa-c4a9-4cce-818d-b85274d15305</vt:lpwstr>
  </property>
  <property fmtid="{D5CDD505-2E9C-101B-9397-08002B2CF9AE}" pid="9" name="MSIP_Label_5b58b62f-6f94-46bd-8089-18e64b0a9abb_ActionId">
    <vt:lpwstr>c823b0d0-c9bd-4599-b8b2-275895d3a963</vt:lpwstr>
  </property>
  <property fmtid="{D5CDD505-2E9C-101B-9397-08002B2CF9AE}" pid="10" name="MSIP_Label_5b58b62f-6f94-46bd-8089-18e64b0a9abb_ContentBits">
    <vt:lpwstr>0</vt:lpwstr>
  </property>
  <property fmtid="{D5CDD505-2E9C-101B-9397-08002B2CF9AE}" pid="11" name="MSIP_Label_5b58b62f-6f94-46bd-8089-18e64b0a9abb_Tag">
    <vt:lpwstr>10, 3, 0, 1</vt:lpwstr>
  </property>
</Properties>
</file>